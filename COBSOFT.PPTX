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309" r:id="rId2"/>
    <p:sldId id="308" r:id="rId3"/>
    <p:sldId id="310" r:id="rId4"/>
    <p:sldId id="311" r:id="rId5"/>
    <p:sldId id="312" r:id="rId6"/>
    <p:sldId id="314" r:id="rId7"/>
    <p:sldId id="315" r:id="rId8"/>
    <p:sldId id="327" r:id="rId9"/>
    <p:sldId id="316" r:id="rId10"/>
    <p:sldId id="317" r:id="rId11"/>
    <p:sldId id="321" r:id="rId12"/>
    <p:sldId id="318" r:id="rId13"/>
    <p:sldId id="319" r:id="rId14"/>
    <p:sldId id="320" r:id="rId15"/>
    <p:sldId id="322" r:id="rId16"/>
    <p:sldId id="323" r:id="rId17"/>
    <p:sldId id="329" r:id="rId18"/>
    <p:sldId id="328" r:id="rId19"/>
    <p:sldId id="325" r:id="rId20"/>
    <p:sldId id="326" r:id="rId21"/>
    <p:sldId id="330" r:id="rId22"/>
    <p:sldId id="331" r:id="rId23"/>
    <p:sldId id="332" r:id="rId24"/>
    <p:sldId id="333" r:id="rId25"/>
  </p:sldIdLst>
  <p:sldSz cx="9144000" cy="6858000" type="screen4x3"/>
  <p:notesSz cx="6858000" cy="9144000"/>
  <p:embeddedFontLst>
    <p:embeddedFont>
      <p:font typeface="Palatino Linotype" panose="02040502050505030304" pitchFamily="18" charset="0"/>
      <p:regular r:id="rId27"/>
      <p:bold r:id="rId28"/>
      <p:italic r:id="rId29"/>
      <p:boldItalic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0397"/>
    <a:srgbClr val="F74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5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855317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2449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0544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9305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501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737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375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9716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4001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0903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1882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8482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2878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6780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56339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4690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5650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5539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98447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93287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00022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47647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38558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71186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3520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title"/>
          </p:nvPr>
        </p:nvSpPr>
        <p:spPr>
          <a:xfrm>
            <a:off x="5907087" y="266700"/>
            <a:ext cx="3008313" cy="2095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28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body" idx="1"/>
          </p:nvPr>
        </p:nvSpPr>
        <p:spPr>
          <a:xfrm>
            <a:off x="719137" y="273050"/>
            <a:ext cx="4995862" cy="5853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buClr>
                <a:srgbClr val="7F7F7F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07950" algn="l" rtl="0">
              <a:spcBef>
                <a:spcPts val="560"/>
              </a:spcBef>
              <a:buClr>
                <a:srgbClr val="7F7F7F"/>
              </a:buClr>
              <a:buSzPct val="100000"/>
              <a:buFont typeface="Courier New"/>
              <a:buChar char="o"/>
              <a:defRPr sz="28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762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01600" algn="l" rtl="0">
              <a:spcBef>
                <a:spcPts val="400"/>
              </a:spcBef>
              <a:buClr>
                <a:srgbClr val="7F7F7F"/>
              </a:buClr>
              <a:buSzPct val="100000"/>
              <a:buFont typeface="Courier New"/>
              <a:buChar char="o"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01600" algn="l" rtl="0">
              <a:spcBef>
                <a:spcPts val="400"/>
              </a:spcBef>
              <a:buClr>
                <a:srgbClr val="7F7F7F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01600" algn="l" rtl="0">
              <a:spcBef>
                <a:spcPts val="400"/>
              </a:spcBef>
              <a:buClr>
                <a:srgbClr val="7F7F7F"/>
              </a:buClr>
              <a:buSzPct val="100000"/>
              <a:buFont typeface="Courier New"/>
              <a:buChar char="o"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01600" algn="l" rtl="0">
              <a:spcBef>
                <a:spcPts val="400"/>
              </a:spcBef>
              <a:buClr>
                <a:srgbClr val="7F7F7F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01600" algn="l" rtl="0">
              <a:spcBef>
                <a:spcPts val="400"/>
              </a:spcBef>
              <a:buClr>
                <a:srgbClr val="7F7F7F"/>
              </a:buClr>
              <a:buSzPct val="100000"/>
              <a:buFont typeface="Courier New"/>
              <a:buChar char="o"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01600" algn="l" rtl="0">
              <a:spcBef>
                <a:spcPts val="400"/>
              </a:spcBef>
              <a:buClr>
                <a:srgbClr val="7F7F7F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body" idx="2"/>
          </p:nvPr>
        </p:nvSpPr>
        <p:spPr>
          <a:xfrm>
            <a:off x="5907087" y="2438400"/>
            <a:ext cx="3008313" cy="36877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25000"/>
              </a:lnSpc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240"/>
              </a:spcBef>
              <a:buClr>
                <a:srgbClr val="7F7F7F"/>
              </a:buClr>
              <a:buFont typeface="Courier New"/>
              <a:buNone/>
              <a:defRPr sz="12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914400" marR="0" lvl="2" indent="0" algn="l" rtl="0">
              <a:spcBef>
                <a:spcPts val="200"/>
              </a:spcBef>
              <a:buClr>
                <a:srgbClr val="7F7F7F"/>
              </a:buClr>
              <a:buFont typeface="Arial"/>
              <a:buNone/>
              <a:defRPr sz="1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371600" marR="0" lvl="3" indent="0" algn="l" rtl="0">
              <a:spcBef>
                <a:spcPts val="180"/>
              </a:spcBef>
              <a:buClr>
                <a:srgbClr val="7F7F7F"/>
              </a:buClr>
              <a:buFont typeface="Courier New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828800" marR="0" lvl="4" indent="0" algn="l" rtl="0">
              <a:spcBef>
                <a:spcPts val="180"/>
              </a:spcBef>
              <a:buClr>
                <a:srgbClr val="7F7F7F"/>
              </a:buClr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286000" marR="0" lvl="5" indent="0" algn="l" rtl="0">
              <a:spcBef>
                <a:spcPts val="180"/>
              </a:spcBef>
              <a:buClr>
                <a:srgbClr val="7F7F7F"/>
              </a:buClr>
              <a:buFont typeface="Courier New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743200" marR="0" lvl="6" indent="0" algn="l" rtl="0">
              <a:spcBef>
                <a:spcPts val="180"/>
              </a:spcBef>
              <a:buClr>
                <a:srgbClr val="7F7F7F"/>
              </a:buClr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200400" marR="0" lvl="7" indent="0" algn="l" rtl="0">
              <a:spcBef>
                <a:spcPts val="180"/>
              </a:spcBef>
              <a:buClr>
                <a:srgbClr val="7F7F7F"/>
              </a:buClr>
              <a:buFont typeface="Courier New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657600" marR="0" lvl="8" indent="0" algn="l" rtl="0">
              <a:spcBef>
                <a:spcPts val="180"/>
              </a:spcBef>
              <a:buClr>
                <a:srgbClr val="7F7F7F"/>
              </a:buClr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7407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722312" y="1371600"/>
            <a:ext cx="7772400" cy="25050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48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722312" y="4068762"/>
            <a:ext cx="7772400" cy="11318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360"/>
              </a:spcBef>
              <a:buClr>
                <a:srgbClr val="888888"/>
              </a:buClr>
              <a:buFont typeface="Courier New"/>
              <a:buNone/>
              <a:defRPr sz="18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914400" marR="0" lvl="2" indent="0" algn="l" rtl="0">
              <a:spcBef>
                <a:spcPts val="32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371600" marR="0" lvl="3" indent="0" algn="l" rtl="0">
              <a:spcBef>
                <a:spcPts val="280"/>
              </a:spcBef>
              <a:buClr>
                <a:srgbClr val="888888"/>
              </a:buClr>
              <a:buFont typeface="Courier New"/>
              <a:buNone/>
              <a:defRPr sz="14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828800" marR="0" lvl="4" indent="0" algn="l" rtl="0">
              <a:spcBef>
                <a:spcPts val="28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286000" marR="0" lvl="5" indent="0" algn="l" rtl="0">
              <a:spcBef>
                <a:spcPts val="280"/>
              </a:spcBef>
              <a:buClr>
                <a:srgbClr val="888888"/>
              </a:buClr>
              <a:buFont typeface="Courier New"/>
              <a:buNone/>
              <a:defRPr sz="14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743200" marR="0" lvl="6" indent="0" algn="l" rtl="0">
              <a:spcBef>
                <a:spcPts val="28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200400" marR="0" lvl="7" indent="0" algn="l" rtl="0">
              <a:spcBef>
                <a:spcPts val="280"/>
              </a:spcBef>
              <a:buClr>
                <a:srgbClr val="888888"/>
              </a:buClr>
              <a:buFont typeface="Courier New"/>
              <a:buNone/>
              <a:defRPr sz="14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657600" marR="0" lvl="8" indent="0" algn="l" rtl="0">
              <a:spcBef>
                <a:spcPts val="280"/>
              </a:spcBef>
              <a:buClr>
                <a:srgbClr val="888888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4495800" y="3924300"/>
            <a:ext cx="84771" cy="84771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7" name="Shape 37"/>
          <p:cNvSpPr/>
          <p:nvPr/>
        </p:nvSpPr>
        <p:spPr>
          <a:xfrm>
            <a:off x="4695825" y="3924300"/>
            <a:ext cx="84771" cy="84771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4296728" y="3924300"/>
            <a:ext cx="84771" cy="84771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as Partes de Conteúdo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7407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4648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" name="Shape 45"/>
          <p:cNvSpPr txBox="1">
            <a:spLocks noGrp="1"/>
          </p:cNvSpPr>
          <p:nvPr>
            <p:ph type="body" idx="2"/>
          </p:nvPr>
        </p:nvSpPr>
        <p:spPr>
          <a:xfrm>
            <a:off x="365760" y="1600200"/>
            <a:ext cx="4041648" cy="4526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7407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40187" cy="609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480"/>
              </a:spcBef>
              <a:buClr>
                <a:srgbClr val="7F7F7F"/>
              </a:buClr>
              <a:buFont typeface="Arial"/>
              <a:buNone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400"/>
              </a:spcBef>
              <a:buClr>
                <a:srgbClr val="7F7F7F"/>
              </a:buClr>
              <a:buFont typeface="Courier New"/>
              <a:buNone/>
              <a:defRPr sz="20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914400" marR="0" lvl="2" indent="0" algn="l" rtl="0">
              <a:spcBef>
                <a:spcPts val="360"/>
              </a:spcBef>
              <a:buClr>
                <a:srgbClr val="7F7F7F"/>
              </a:buClr>
              <a:buFont typeface="Arial"/>
              <a:buNone/>
              <a:defRPr sz="18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371600" marR="0" lvl="3" indent="0" algn="l" rtl="0">
              <a:spcBef>
                <a:spcPts val="320"/>
              </a:spcBef>
              <a:buClr>
                <a:srgbClr val="7F7F7F"/>
              </a:buClr>
              <a:buFont typeface="Courier New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828800" marR="0" lvl="4" indent="0" algn="l" rtl="0"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286000" marR="0" lvl="5" indent="0" algn="l" rtl="0">
              <a:spcBef>
                <a:spcPts val="320"/>
              </a:spcBef>
              <a:buClr>
                <a:srgbClr val="7F7F7F"/>
              </a:buClr>
              <a:buFont typeface="Courier New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743200" marR="0" lvl="6" indent="0" algn="l" rtl="0"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200400" marR="0" lvl="7" indent="0" algn="l" rtl="0">
              <a:spcBef>
                <a:spcPts val="320"/>
              </a:spcBef>
              <a:buClr>
                <a:srgbClr val="7F7F7F"/>
              </a:buClr>
              <a:buFont typeface="Courier New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657600" marR="0" lvl="8" indent="0" algn="l" rtl="0"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41774" cy="609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480"/>
              </a:spcBef>
              <a:buClr>
                <a:srgbClr val="7F7F7F"/>
              </a:buClr>
              <a:buFont typeface="Arial"/>
              <a:buNone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400"/>
              </a:spcBef>
              <a:buClr>
                <a:srgbClr val="7F7F7F"/>
              </a:buClr>
              <a:buFont typeface="Courier New"/>
              <a:buNone/>
              <a:defRPr sz="20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914400" marR="0" lvl="2" indent="0" algn="l" rtl="0">
              <a:spcBef>
                <a:spcPts val="360"/>
              </a:spcBef>
              <a:buClr>
                <a:srgbClr val="7F7F7F"/>
              </a:buClr>
              <a:buFont typeface="Arial"/>
              <a:buNone/>
              <a:defRPr sz="18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371600" marR="0" lvl="3" indent="0" algn="l" rtl="0">
              <a:spcBef>
                <a:spcPts val="320"/>
              </a:spcBef>
              <a:buClr>
                <a:srgbClr val="7F7F7F"/>
              </a:buClr>
              <a:buFont typeface="Courier New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828800" marR="0" lvl="4" indent="0" algn="l" rtl="0"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286000" marR="0" lvl="5" indent="0" algn="l" rtl="0">
              <a:spcBef>
                <a:spcPts val="320"/>
              </a:spcBef>
              <a:buClr>
                <a:srgbClr val="7F7F7F"/>
              </a:buClr>
              <a:buFont typeface="Courier New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743200" marR="0" lvl="6" indent="0" algn="l" rtl="0"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200400" marR="0" lvl="7" indent="0" algn="l" rtl="0">
              <a:spcBef>
                <a:spcPts val="320"/>
              </a:spcBef>
              <a:buClr>
                <a:srgbClr val="7F7F7F"/>
              </a:buClr>
              <a:buFont typeface="Courier New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657600" marR="0" lvl="8" indent="0" algn="l" rtl="0"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1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" name="Shape 53"/>
          <p:cNvSpPr txBox="1">
            <a:spLocks noGrp="1"/>
          </p:cNvSpPr>
          <p:nvPr>
            <p:ph type="body" idx="3"/>
          </p:nvPr>
        </p:nvSpPr>
        <p:spPr>
          <a:xfrm>
            <a:off x="457200" y="2212848"/>
            <a:ext cx="4041648" cy="39136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body" idx="4"/>
          </p:nvPr>
        </p:nvSpPr>
        <p:spPr>
          <a:xfrm>
            <a:off x="4672583" y="2212848"/>
            <a:ext cx="4041648" cy="3913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7407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1679575" y="228600"/>
            <a:ext cx="5711824" cy="8953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28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pic" idx="2"/>
          </p:nvPr>
        </p:nvSpPr>
        <p:spPr>
          <a:xfrm>
            <a:off x="1508125" y="1143000"/>
            <a:ext cx="6054724" cy="4541043"/>
          </a:xfrm>
          <a:prstGeom prst="rect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88900" dist="50800" dir="5400000" algn="ctr" rotWithShape="0">
              <a:srgbClr val="000000">
                <a:alpha val="24705"/>
              </a:srgbClr>
            </a:outerShdw>
          </a:effectLst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buClr>
                <a:srgbClr val="7F7F7F"/>
              </a:buClr>
              <a:buFont typeface="Arial"/>
              <a:buNone/>
              <a:defRPr sz="32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560"/>
              </a:spcBef>
              <a:buClr>
                <a:srgbClr val="7F7F7F"/>
              </a:buClr>
              <a:buFont typeface="Courier New"/>
              <a:buNone/>
              <a:defRPr sz="28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914400" marR="0" lvl="2" indent="0" algn="l" rtl="0">
              <a:spcBef>
                <a:spcPts val="480"/>
              </a:spcBef>
              <a:buClr>
                <a:srgbClr val="7F7F7F"/>
              </a:buClr>
              <a:buFont typeface="Arial"/>
              <a:buNone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371600" marR="0" lvl="3" indent="0" algn="l" rtl="0">
              <a:spcBef>
                <a:spcPts val="400"/>
              </a:spcBef>
              <a:buClr>
                <a:srgbClr val="7F7F7F"/>
              </a:buClr>
              <a:buFont typeface="Courier New"/>
              <a:buNone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828800" marR="0" lvl="4" indent="0" algn="l" rtl="0">
              <a:spcBef>
                <a:spcPts val="400"/>
              </a:spcBef>
              <a:buClr>
                <a:srgbClr val="7F7F7F"/>
              </a:buClr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286000" marR="0" lvl="5" indent="0" algn="l" rtl="0">
              <a:spcBef>
                <a:spcPts val="400"/>
              </a:spcBef>
              <a:buClr>
                <a:srgbClr val="7F7F7F"/>
              </a:buClr>
              <a:buFont typeface="Courier New"/>
              <a:buNone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743200" marR="0" lvl="6" indent="0" algn="l" rtl="0">
              <a:spcBef>
                <a:spcPts val="400"/>
              </a:spcBef>
              <a:buClr>
                <a:srgbClr val="7F7F7F"/>
              </a:buClr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200400" marR="0" lvl="7" indent="0" algn="l" rtl="0">
              <a:spcBef>
                <a:spcPts val="400"/>
              </a:spcBef>
              <a:buClr>
                <a:srgbClr val="7F7F7F"/>
              </a:buClr>
              <a:buFont typeface="Courier New"/>
              <a:buNone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657600" marR="0" lvl="8" indent="0" algn="l" rtl="0">
              <a:spcBef>
                <a:spcPts val="400"/>
              </a:spcBef>
              <a:buClr>
                <a:srgbClr val="7F7F7F"/>
              </a:buClr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1679575" y="5810250"/>
            <a:ext cx="5711824" cy="533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320"/>
              </a:spcBef>
              <a:buClr>
                <a:srgbClr val="7F7F7F"/>
              </a:buClr>
              <a:buFont typeface="Arial"/>
              <a:buNone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240"/>
              </a:spcBef>
              <a:buClr>
                <a:srgbClr val="7F7F7F"/>
              </a:buClr>
              <a:buFont typeface="Courier New"/>
              <a:buNone/>
              <a:defRPr sz="12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914400" marR="0" lvl="2" indent="0" algn="l" rtl="0">
              <a:spcBef>
                <a:spcPts val="200"/>
              </a:spcBef>
              <a:buClr>
                <a:srgbClr val="7F7F7F"/>
              </a:buClr>
              <a:buFont typeface="Arial"/>
              <a:buNone/>
              <a:defRPr sz="10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371600" marR="0" lvl="3" indent="0" algn="l" rtl="0">
              <a:spcBef>
                <a:spcPts val="180"/>
              </a:spcBef>
              <a:buClr>
                <a:srgbClr val="7F7F7F"/>
              </a:buClr>
              <a:buFont typeface="Courier New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828800" marR="0" lvl="4" indent="0" algn="l" rtl="0">
              <a:spcBef>
                <a:spcPts val="180"/>
              </a:spcBef>
              <a:buClr>
                <a:srgbClr val="7F7F7F"/>
              </a:buClr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286000" marR="0" lvl="5" indent="0" algn="l" rtl="0">
              <a:spcBef>
                <a:spcPts val="180"/>
              </a:spcBef>
              <a:buClr>
                <a:srgbClr val="7F7F7F"/>
              </a:buClr>
              <a:buFont typeface="Courier New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743200" marR="0" lvl="6" indent="0" algn="l" rtl="0">
              <a:spcBef>
                <a:spcPts val="180"/>
              </a:spcBef>
              <a:buClr>
                <a:srgbClr val="7F7F7F"/>
              </a:buClr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200400" marR="0" lvl="7" indent="0" algn="l" rtl="0">
              <a:spcBef>
                <a:spcPts val="180"/>
              </a:spcBef>
              <a:buClr>
                <a:srgbClr val="7F7F7F"/>
              </a:buClr>
              <a:buFont typeface="Courier New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657600" marR="0" lvl="8" indent="0" algn="l" rtl="0">
              <a:spcBef>
                <a:spcPts val="180"/>
              </a:spcBef>
              <a:buClr>
                <a:srgbClr val="7F7F7F"/>
              </a:buClr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e texto vertical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7407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e texto verticai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7407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 rot="5400000">
            <a:off x="541337" y="190500"/>
            <a:ext cx="5851525" cy="6019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31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7407"/>
              </a:lnSpc>
              <a:spcBef>
                <a:spcPts val="0"/>
              </a:spcBef>
              <a:buClr>
                <a:schemeClr val="dk2"/>
              </a:buClr>
              <a:buFont typeface="Palatino Linotype"/>
              <a:buNone/>
              <a:defRPr sz="5400" b="0" i="0" u="none" strike="noStrike" cap="non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buClr>
                <a:srgbClr val="7F7F7F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742950" marR="0" lvl="1" indent="-18415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143000" marR="0" lvl="2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600200" marR="0" lvl="3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057400" marR="0" lvl="4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514600" marR="0" lvl="5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2971800" marR="0" lvl="6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429000" marR="0" lvl="7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Courier New"/>
              <a:buChar char="o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3886200" marR="0" lvl="8" indent="-127000" algn="l" rtl="0">
              <a:spcBef>
                <a:spcPts val="320"/>
              </a:spcBef>
              <a:buClr>
                <a:srgbClr val="7F7F7F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dt" idx="10"/>
          </p:nvPr>
        </p:nvSpPr>
        <p:spPr>
          <a:xfrm>
            <a:off x="6363346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ftr" idx="11"/>
          </p:nvPr>
        </p:nvSpPr>
        <p:spPr>
          <a:xfrm>
            <a:off x="659164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sldNum" idx="12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lIns="27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lang="en-US" sz="12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40000"/>
                <a:lumOff val="60000"/>
                <a:alpha val="32000"/>
              </a:schemeClr>
            </a:gs>
            <a:gs pos="31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805"/>
            <a:ext cx="9144000" cy="648659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466166"/>
            <a:ext cx="5943600" cy="3000934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0" y="5086350"/>
            <a:ext cx="9144000" cy="1028700"/>
          </a:xfrm>
          <a:prstGeom prst="rect">
            <a:avLst/>
          </a:prstGeom>
          <a:solidFill>
            <a:srgbClr val="180397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0" y="5099387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3ª Mostra de Talentos</a:t>
            </a:r>
            <a:endParaRPr lang="pt-BR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4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395535" y="2606432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Integrantes da Equipe</a:t>
            </a:r>
            <a:endParaRPr lang="pt-BR" sz="32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660400" y="3321590"/>
            <a:ext cx="83040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Adrian Luís Brignoli</a:t>
            </a:r>
          </a:p>
          <a:p>
            <a:r>
              <a:rPr lang="pt-BR" sz="2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Eduarda Nogueira</a:t>
            </a:r>
          </a:p>
          <a:p>
            <a:r>
              <a:rPr lang="pt-BR" sz="2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Lucas Soares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395534" y="1010487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Turma: </a:t>
            </a:r>
            <a:r>
              <a:rPr lang="pt-BR" sz="32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Desenvolvimento COBOL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395534" y="1765242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Coordenador: </a:t>
            </a:r>
            <a:r>
              <a:rPr lang="pt-BR" sz="32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Marcos F. Rubi Brancher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3279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660400" y="2519997"/>
            <a:ext cx="8483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Emissão de Notas Fiscais Eletrônicas e Controle de Estoque.  </a:t>
            </a:r>
            <a:endParaRPr lang="pt-BR" sz="28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pt-BR" sz="2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395534" y="1010487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395535" y="1765242"/>
            <a:ext cx="2220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Objetivo: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43026"/>
      </p:ext>
    </p:extLst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6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980" y="2196206"/>
            <a:ext cx="7510057" cy="3654997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Login</a:t>
            </a:r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: </a:t>
            </a:r>
            <a:r>
              <a:rPr lang="pt-BR" sz="1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O acesso é restrito, desta forma apenas usuários cadastrados poderão acessar o sistema. 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o Explicativo Retangular com Cantos Arredondados 3"/>
          <p:cNvSpPr/>
          <p:nvPr/>
        </p:nvSpPr>
        <p:spPr>
          <a:xfrm>
            <a:off x="5624390" y="2290918"/>
            <a:ext cx="2558076" cy="1470377"/>
          </a:xfrm>
          <a:prstGeom prst="wedgeRoundRectCallout">
            <a:avLst>
              <a:gd name="adj1" fmla="val -82261"/>
              <a:gd name="adj2" fmla="val 8914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Após três tentativas inválidas de acesso ao sistema, o usuário será bloqueado e será necessário liberação de um gestor.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048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Unidades: </a:t>
            </a:r>
            <a:r>
              <a:rPr lang="pt-BR" sz="1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Será listado todas as unidades que o usuário se encontra atrelado para realizar operações. 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4" y="2290918"/>
            <a:ext cx="5251121" cy="3251718"/>
          </a:xfrm>
          <a:prstGeom prst="rect">
            <a:avLst/>
          </a:prstGeom>
        </p:spPr>
      </p:pic>
      <p:sp>
        <p:nvSpPr>
          <p:cNvPr id="6" name="Texto Explicativo Retangular com Cantos Arredondados 5"/>
          <p:cNvSpPr/>
          <p:nvPr/>
        </p:nvSpPr>
        <p:spPr>
          <a:xfrm>
            <a:off x="3544478" y="1548096"/>
            <a:ext cx="2733774" cy="975846"/>
          </a:xfrm>
          <a:prstGeom prst="wedgeRoundRectCallout">
            <a:avLst>
              <a:gd name="adj1" fmla="val -57784"/>
              <a:gd name="adj2" fmla="val 11064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Usuários gerenciais poderão acessar todas as unidades cadastradas na base de dados.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942" y="4718750"/>
            <a:ext cx="5364539" cy="1266780"/>
          </a:xfrm>
          <a:prstGeom prst="rect">
            <a:avLst/>
          </a:prstGeom>
        </p:spPr>
      </p:pic>
      <p:sp>
        <p:nvSpPr>
          <p:cNvPr id="12" name="Texto Explicativo Retangular com Cantos Arredondados 11"/>
          <p:cNvSpPr/>
          <p:nvPr/>
        </p:nvSpPr>
        <p:spPr>
          <a:xfrm>
            <a:off x="2358272" y="3428854"/>
            <a:ext cx="2733774" cy="975846"/>
          </a:xfrm>
          <a:prstGeom prst="wedgeRoundRectCallout">
            <a:avLst>
              <a:gd name="adj1" fmla="val 59113"/>
              <a:gd name="adj2" fmla="val 11258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Para os usuários de acesso comum será listado apenas as empresas que poderão realizar movimentações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587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Módulos: </a:t>
            </a:r>
            <a:r>
              <a:rPr lang="pt-BR" sz="1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O sistema é divido em três módulos, segregados por área de negócio: Cadastros, Controle de Estoque e Faturamento.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4" y="2290918"/>
            <a:ext cx="6838601" cy="2575850"/>
          </a:xfrm>
          <a:prstGeom prst="rect">
            <a:avLst/>
          </a:prstGeom>
        </p:spPr>
      </p:pic>
      <p:sp>
        <p:nvSpPr>
          <p:cNvPr id="2" name="Texto Explicativo Retangular com Cantos Arredondados 1"/>
          <p:cNvSpPr/>
          <p:nvPr/>
        </p:nvSpPr>
        <p:spPr>
          <a:xfrm>
            <a:off x="5263376" y="2467169"/>
            <a:ext cx="2787804" cy="1449658"/>
          </a:xfrm>
          <a:prstGeom prst="wedgeRoundRectCallout">
            <a:avLst>
              <a:gd name="adj1" fmla="val -97383"/>
              <a:gd name="adj2" fmla="val 5002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 menu é montado de acordo com o perfil do usuário. </a:t>
            </a:r>
          </a:p>
          <a:p>
            <a:pPr algn="ctr"/>
            <a:r>
              <a:rPr lang="pt-BR" dirty="0" smtClean="0"/>
              <a:t>Totalmente parametrizável conforme a necessidade do usuário. 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526" y="4399814"/>
            <a:ext cx="6559768" cy="224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4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1574942" y="1178111"/>
            <a:ext cx="62101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Cadastros</a:t>
            </a:r>
            <a:endParaRPr lang="pt-BR" sz="88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03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Cadastros: </a:t>
            </a:r>
            <a:r>
              <a:rPr lang="pt-BR" sz="1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Todos os cadastros necessários para emissão de NF-e e Controle de Estoque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440" y="2290918"/>
            <a:ext cx="5393138" cy="4378478"/>
          </a:xfrm>
          <a:prstGeom prst="rect">
            <a:avLst/>
          </a:prstGeom>
        </p:spPr>
      </p:pic>
      <p:sp>
        <p:nvSpPr>
          <p:cNvPr id="6" name="Explosão 1 5"/>
          <p:cNvSpPr/>
          <p:nvPr/>
        </p:nvSpPr>
        <p:spPr>
          <a:xfrm>
            <a:off x="4627756" y="2854712"/>
            <a:ext cx="4336729" cy="3211551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No momento da implantação das unidades todos os cadastros poderão ser importados à partir de um arquivo *.CSV.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524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Implantação de Base: </a:t>
            </a:r>
            <a:r>
              <a:rPr lang="pt-BR" sz="1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No momento da implantação de uma nova unidade é possível importar todos os cadastros através de um arquivo *.CSV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04" y="2567917"/>
            <a:ext cx="7258224" cy="2563037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341" y="3407478"/>
            <a:ext cx="3228046" cy="3239958"/>
          </a:xfrm>
          <a:prstGeom prst="rect">
            <a:avLst/>
          </a:prstGeom>
        </p:spPr>
      </p:pic>
      <p:sp>
        <p:nvSpPr>
          <p:cNvPr id="4" name="Texto Explicativo Retangular com Cantos Arredondados 3"/>
          <p:cNvSpPr/>
          <p:nvPr/>
        </p:nvSpPr>
        <p:spPr>
          <a:xfrm>
            <a:off x="2620537" y="3891775"/>
            <a:ext cx="2673852" cy="1135681"/>
          </a:xfrm>
          <a:prstGeom prst="wedgeRoundRectCallout">
            <a:avLst>
              <a:gd name="adj1" fmla="val 57192"/>
              <a:gd name="adj2" fmla="val 8931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Exemplo de arquivo utilizado para inicialização da base de dados.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582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Exemplo Cadastros: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391" y="2013919"/>
            <a:ext cx="5920331" cy="4576452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5"/>
          <a:srcRect b="5208"/>
          <a:stretch/>
        </p:blipFill>
        <p:spPr>
          <a:xfrm>
            <a:off x="3440102" y="4945064"/>
            <a:ext cx="5524383" cy="864722"/>
          </a:xfrm>
          <a:prstGeom prst="rect">
            <a:avLst/>
          </a:prstGeom>
        </p:spPr>
      </p:pic>
      <p:sp>
        <p:nvSpPr>
          <p:cNvPr id="11" name="Texto Explicativo Retangular com Cantos Arredondados 10"/>
          <p:cNvSpPr/>
          <p:nvPr/>
        </p:nvSpPr>
        <p:spPr>
          <a:xfrm>
            <a:off x="624468" y="3479180"/>
            <a:ext cx="2815634" cy="1465883"/>
          </a:xfrm>
          <a:prstGeom prst="wedgeRoundRectCallout">
            <a:avLst>
              <a:gd name="adj1" fmla="val 51456"/>
              <a:gd name="adj2" fmla="val 8393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As opções de cada módulo serão apresentadas para o usuário conforme parametrizado no perfil e o perfil que está atrelado ao usuário.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432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Segregação de Acesso: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459" y="2013919"/>
            <a:ext cx="5949469" cy="4573236"/>
          </a:xfrm>
          <a:prstGeom prst="rect">
            <a:avLst/>
          </a:prstGeom>
        </p:spPr>
      </p:pic>
      <p:sp>
        <p:nvSpPr>
          <p:cNvPr id="6" name="Texto Explicativo Retangular com Cantos Arredondados 5"/>
          <p:cNvSpPr/>
          <p:nvPr/>
        </p:nvSpPr>
        <p:spPr>
          <a:xfrm>
            <a:off x="4582195" y="5016843"/>
            <a:ext cx="2420771" cy="971362"/>
          </a:xfrm>
          <a:prstGeom prst="wedgeRoundRectCallout">
            <a:avLst>
              <a:gd name="adj1" fmla="val -54910"/>
              <a:gd name="adj2" fmla="val -12467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Empresas que o usuário irá possuir acesso.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496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Segregação de Acesso: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557" y="2013918"/>
            <a:ext cx="6860904" cy="2858125"/>
          </a:xfrm>
          <a:prstGeom prst="rect">
            <a:avLst/>
          </a:prstGeom>
        </p:spPr>
      </p:pic>
      <p:sp>
        <p:nvSpPr>
          <p:cNvPr id="4" name="Texto Explicativo Retangular com Cantos Arredondados 3"/>
          <p:cNvSpPr/>
          <p:nvPr/>
        </p:nvSpPr>
        <p:spPr>
          <a:xfrm>
            <a:off x="4559753" y="4046853"/>
            <a:ext cx="4170556" cy="1650381"/>
          </a:xfrm>
          <a:prstGeom prst="wedgeRoundRectCallout">
            <a:avLst>
              <a:gd name="adj1" fmla="val -58107"/>
              <a:gd name="adj2" fmla="val -906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 perfil poderá ser cadastrado por funcionalidade. </a:t>
            </a:r>
          </a:p>
          <a:p>
            <a:pPr algn="ctr"/>
            <a:endParaRPr lang="pt-BR" dirty="0"/>
          </a:p>
          <a:p>
            <a:pPr algn="ctr"/>
            <a:r>
              <a:rPr lang="pt-BR" dirty="0" smtClean="0"/>
              <a:t>Exemplo: Faturista, Gerente Financeiro e etc.</a:t>
            </a:r>
          </a:p>
          <a:p>
            <a:pPr algn="ctr"/>
            <a:endParaRPr lang="pt-BR" dirty="0"/>
          </a:p>
          <a:p>
            <a:pPr algn="ctr"/>
            <a:r>
              <a:rPr lang="pt-BR" dirty="0" smtClean="0"/>
              <a:t>O perfil poderá variar de filial para filial.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265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Segregação de Acesso: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966" y="2013919"/>
            <a:ext cx="6914086" cy="3852941"/>
          </a:xfrm>
          <a:prstGeom prst="rect">
            <a:avLst/>
          </a:prstGeom>
        </p:spPr>
      </p:pic>
      <p:sp>
        <p:nvSpPr>
          <p:cNvPr id="4" name="Texto Explicativo Retangular com Cantos Arredondados 3"/>
          <p:cNvSpPr/>
          <p:nvPr/>
        </p:nvSpPr>
        <p:spPr>
          <a:xfrm>
            <a:off x="5222019" y="2520176"/>
            <a:ext cx="2985188" cy="1260087"/>
          </a:xfrm>
          <a:prstGeom prst="wedgeRoundRectCallout">
            <a:avLst>
              <a:gd name="adj1" fmla="val -64524"/>
              <a:gd name="adj2" fmla="val 8026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 perfil poderá ter X módulos, com cada módulo sua respectiva permissão.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18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Segregação de Acesso: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936" y="2013919"/>
            <a:ext cx="6856141" cy="4095420"/>
          </a:xfrm>
          <a:prstGeom prst="rect">
            <a:avLst/>
          </a:prstGeom>
        </p:spPr>
      </p:pic>
      <p:sp>
        <p:nvSpPr>
          <p:cNvPr id="5" name="Texto Explicativo Retangular com Cantos Arredondados 4"/>
          <p:cNvSpPr/>
          <p:nvPr/>
        </p:nvSpPr>
        <p:spPr>
          <a:xfrm>
            <a:off x="5464006" y="2310887"/>
            <a:ext cx="3679994" cy="2394928"/>
          </a:xfrm>
          <a:prstGeom prst="wedgeRoundRectCallout">
            <a:avLst>
              <a:gd name="adj1" fmla="val -92984"/>
              <a:gd name="adj2" fmla="val 3843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Após todos os perfis cadastrados, basta efetuar o relacionamento entre o Usuário e o Perfil.</a:t>
            </a:r>
          </a:p>
          <a:p>
            <a:pPr algn="ctr"/>
            <a:endParaRPr lang="pt-BR" dirty="0"/>
          </a:p>
          <a:p>
            <a:pPr algn="ctr"/>
            <a:r>
              <a:rPr lang="pt-BR" dirty="0" smtClean="0"/>
              <a:t>À partir do relacionamento o usuário terá acesso à todos os módulos que foram atrelados ao perfil com sua respectiva permissão.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40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Clientes: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4"/>
          <a:srcRect t="830"/>
          <a:stretch/>
        </p:blipFill>
        <p:spPr>
          <a:xfrm>
            <a:off x="1870568" y="2051823"/>
            <a:ext cx="5618882" cy="4529591"/>
          </a:xfrm>
          <a:prstGeom prst="rect">
            <a:avLst/>
          </a:prstGeom>
        </p:spPr>
      </p:pic>
      <p:sp>
        <p:nvSpPr>
          <p:cNvPr id="4" name="Texto Explicativo Retangular com Cantos Arredondados 3"/>
          <p:cNvSpPr/>
          <p:nvPr/>
        </p:nvSpPr>
        <p:spPr>
          <a:xfrm>
            <a:off x="6056025" y="2163337"/>
            <a:ext cx="2787805" cy="1873404"/>
          </a:xfrm>
          <a:prstGeom prst="wedgeRoundRectCallout">
            <a:avLst>
              <a:gd name="adj1" fmla="val -75233"/>
              <a:gd name="adj2" fmla="val 7976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À partir do momento que o cliente for cadastrado na base de dados, seu cadastro poderá ser acessado pela também pelas filiais para seja realizado uma venda.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605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Produtos: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882" y="2013919"/>
            <a:ext cx="6370253" cy="4345142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2814" y="4386736"/>
            <a:ext cx="5161671" cy="2227224"/>
          </a:xfrm>
          <a:prstGeom prst="rect">
            <a:avLst/>
          </a:prstGeom>
        </p:spPr>
      </p:pic>
      <p:sp>
        <p:nvSpPr>
          <p:cNvPr id="11" name="Texto Explicativo Retangular com Cantos Arredondados 10"/>
          <p:cNvSpPr/>
          <p:nvPr/>
        </p:nvSpPr>
        <p:spPr>
          <a:xfrm>
            <a:off x="858644" y="3155795"/>
            <a:ext cx="3300761" cy="1683834"/>
          </a:xfrm>
          <a:prstGeom prst="wedgeRoundRectCallout">
            <a:avLst>
              <a:gd name="adj1" fmla="val 68018"/>
              <a:gd name="adj2" fmla="val 8937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Após realizar o cadastro do produto que será comercializado é necessário cadastrar o preço de venda para emissão da NF-e.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233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1574942" y="1178111"/>
            <a:ext cx="621013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Controle de </a:t>
            </a:r>
          </a:p>
          <a:p>
            <a:pPr algn="ctr"/>
            <a:r>
              <a:rPr lang="pt-BR" sz="88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Estoque</a:t>
            </a:r>
            <a:endParaRPr lang="pt-BR" sz="88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98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Estoque: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656" y="2013919"/>
            <a:ext cx="7205196" cy="3340255"/>
          </a:xfrm>
          <a:prstGeom prst="rect">
            <a:avLst/>
          </a:prstGeom>
        </p:spPr>
      </p:pic>
      <p:sp>
        <p:nvSpPr>
          <p:cNvPr id="4" name="Texto Explicativo Retangular com Cantos Arredondados 3"/>
          <p:cNvSpPr/>
          <p:nvPr/>
        </p:nvSpPr>
        <p:spPr>
          <a:xfrm>
            <a:off x="4379839" y="2970368"/>
            <a:ext cx="2868453" cy="754139"/>
          </a:xfrm>
          <a:prstGeom prst="wedgeRoundRectCallout">
            <a:avLst>
              <a:gd name="adj1" fmla="val -56277"/>
              <a:gd name="adj2" fmla="val 7898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Quantidade disponível para venda.</a:t>
            </a:r>
            <a:endParaRPr lang="pt-BR" dirty="0"/>
          </a:p>
        </p:txBody>
      </p:sp>
      <p:sp>
        <p:nvSpPr>
          <p:cNvPr id="5" name="Texto Explicativo Retangular com Cantos Arredondados 4"/>
          <p:cNvSpPr/>
          <p:nvPr/>
        </p:nvSpPr>
        <p:spPr>
          <a:xfrm>
            <a:off x="4937401" y="3979407"/>
            <a:ext cx="3497452" cy="1183608"/>
          </a:xfrm>
          <a:prstGeom prst="wedgeRoundRectCallout">
            <a:avLst>
              <a:gd name="adj1" fmla="val -71377"/>
              <a:gd name="adj2" fmla="val -2865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Quantidade reservada. Produtos que estão no processo de faturamento, porém ainda não foi efetuada sua baixa no estoque.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089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Relatório – Saldo de Estoque: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96" y="2013919"/>
            <a:ext cx="751522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44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Relatório – Movimentação de Estoque: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4" y="2013919"/>
            <a:ext cx="834390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0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1133159" y="1178111"/>
            <a:ext cx="70937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Faturamento</a:t>
            </a:r>
            <a:endParaRPr lang="pt-BR" sz="88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57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Faturamento: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/>
          <a:srcRect b="492"/>
          <a:stretch/>
        </p:blipFill>
        <p:spPr>
          <a:xfrm>
            <a:off x="395534" y="1753959"/>
            <a:ext cx="5895510" cy="4864804"/>
          </a:xfrm>
          <a:prstGeom prst="rect">
            <a:avLst/>
          </a:prstGeom>
        </p:spPr>
      </p:pic>
      <p:sp>
        <p:nvSpPr>
          <p:cNvPr id="6" name="Texto Explicativo Retangular com Cantos Arredondados 5"/>
          <p:cNvSpPr/>
          <p:nvPr/>
        </p:nvSpPr>
        <p:spPr>
          <a:xfrm>
            <a:off x="3654427" y="1690269"/>
            <a:ext cx="3973338" cy="1743304"/>
          </a:xfrm>
          <a:prstGeom prst="wedgeRoundRectCallout">
            <a:avLst>
              <a:gd name="adj1" fmla="val -81157"/>
              <a:gd name="adj2" fmla="val 5918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Ao iniciar uma venda, deverá ser informado o tipo de pessoa(Física ou Jurídica)</a:t>
            </a:r>
          </a:p>
          <a:p>
            <a:pPr algn="ctr"/>
            <a:endParaRPr lang="pt-BR" dirty="0"/>
          </a:p>
          <a:p>
            <a:pPr algn="ctr"/>
            <a:r>
              <a:rPr lang="pt-BR" dirty="0" smtClean="0"/>
              <a:t>No caso de PF será informado o CPF, já no caso de uma PJ será informado o CNPJ.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6209" y="2013919"/>
            <a:ext cx="6759119" cy="4510706"/>
          </a:xfrm>
          <a:prstGeom prst="rect">
            <a:avLst/>
          </a:prstGeom>
        </p:spPr>
      </p:pic>
      <p:sp>
        <p:nvSpPr>
          <p:cNvPr id="11" name="Texto Explicativo Retangular com Cantos Arredondados 10"/>
          <p:cNvSpPr/>
          <p:nvPr/>
        </p:nvSpPr>
        <p:spPr>
          <a:xfrm>
            <a:off x="3909752" y="2597084"/>
            <a:ext cx="2631688" cy="745980"/>
          </a:xfrm>
          <a:prstGeom prst="wedgeRoundRectCallout">
            <a:avLst>
              <a:gd name="adj1" fmla="val -47951"/>
              <a:gd name="adj2" fmla="val 9090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Informar o código da mercadoria</a:t>
            </a:r>
            <a:endParaRPr lang="pt-BR" dirty="0"/>
          </a:p>
        </p:txBody>
      </p:sp>
      <p:sp>
        <p:nvSpPr>
          <p:cNvPr id="12" name="Texto Explicativo Retangular com Cantos Arredondados 11"/>
          <p:cNvSpPr/>
          <p:nvPr/>
        </p:nvSpPr>
        <p:spPr>
          <a:xfrm>
            <a:off x="4355088" y="4013288"/>
            <a:ext cx="3874512" cy="1183180"/>
          </a:xfrm>
          <a:prstGeom prst="wedgeRoundRectCallout">
            <a:avLst>
              <a:gd name="adj1" fmla="val -67791"/>
              <a:gd name="adj2" fmla="val -6665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Quantidade de mercadoria. Nesse momento será validado o saldo disponível no estoque.</a:t>
            </a:r>
          </a:p>
          <a:p>
            <a:pPr algn="ctr"/>
            <a:endParaRPr lang="pt-BR" dirty="0"/>
          </a:p>
          <a:p>
            <a:pPr algn="ctr"/>
            <a:r>
              <a:rPr lang="pt-BR" dirty="0" smtClean="0"/>
              <a:t>Neste momento ele irá locar a quantidade da mercadoria informada no estoque. </a:t>
            </a:r>
            <a:endParaRPr lang="pt-BR" dirty="0"/>
          </a:p>
        </p:txBody>
      </p:sp>
      <p:sp>
        <p:nvSpPr>
          <p:cNvPr id="14" name="Texto Explicativo Retangular com Cantos Arredondados 13"/>
          <p:cNvSpPr/>
          <p:nvPr/>
        </p:nvSpPr>
        <p:spPr>
          <a:xfrm>
            <a:off x="5838708" y="5886264"/>
            <a:ext cx="2073012" cy="638361"/>
          </a:xfrm>
          <a:prstGeom prst="wedgeRoundRectCallout">
            <a:avLst>
              <a:gd name="adj1" fmla="val 57385"/>
              <a:gd name="adj2" fmla="val -9208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Valor total da venda</a:t>
            </a:r>
            <a:endParaRPr lang="pt-BR" dirty="0"/>
          </a:p>
        </p:txBody>
      </p:sp>
      <p:sp>
        <p:nvSpPr>
          <p:cNvPr id="16" name="Texto Explicativo Retangular com Cantos Arredondados 15"/>
          <p:cNvSpPr/>
          <p:nvPr/>
        </p:nvSpPr>
        <p:spPr>
          <a:xfrm>
            <a:off x="227755" y="5106096"/>
            <a:ext cx="1962615" cy="780168"/>
          </a:xfrm>
          <a:prstGeom prst="wedgeRoundRectCallout">
            <a:avLst>
              <a:gd name="adj1" fmla="val 47349"/>
              <a:gd name="adj2" fmla="val 8251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Ao confirmar será gerado a NF-e e sua impressão.</a:t>
            </a:r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9433" y="3597963"/>
            <a:ext cx="6647774" cy="289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8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4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95534" y="1174245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NF-e:</a:t>
            </a:r>
            <a:endParaRPr lang="pt-BR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694" y="1882352"/>
            <a:ext cx="5506630" cy="4772413"/>
          </a:xfrm>
          <a:prstGeom prst="rect">
            <a:avLst/>
          </a:prstGeom>
        </p:spPr>
      </p:pic>
      <p:sp>
        <p:nvSpPr>
          <p:cNvPr id="2" name="Explosion 1 1"/>
          <p:cNvSpPr/>
          <p:nvPr/>
        </p:nvSpPr>
        <p:spPr>
          <a:xfrm>
            <a:off x="583474" y="1297577"/>
            <a:ext cx="3378926" cy="2220686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Impressão </a:t>
            </a:r>
          </a:p>
          <a:p>
            <a:pPr algn="ctr"/>
            <a:r>
              <a:rPr lang="pt-BR" dirty="0" smtClean="0"/>
              <a:t>ou </a:t>
            </a:r>
          </a:p>
          <a:p>
            <a:pPr algn="ctr"/>
            <a:r>
              <a:rPr lang="pt-BR" dirty="0" smtClean="0"/>
              <a:t>PDF</a:t>
            </a:r>
            <a:endParaRPr lang="pt-BR" dirty="0"/>
          </a:p>
        </p:txBody>
      </p:sp>
      <p:sp>
        <p:nvSpPr>
          <p:cNvPr id="8" name="Explosion 1 7"/>
          <p:cNvSpPr/>
          <p:nvPr/>
        </p:nvSpPr>
        <p:spPr>
          <a:xfrm>
            <a:off x="5765074" y="4173702"/>
            <a:ext cx="3378926" cy="2220686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Layout em PCL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507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5534" y="328418"/>
            <a:ext cx="856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CobSoft</a:t>
            </a:r>
            <a:endParaRPr lang="pt-BR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9" name="Shape 89"/>
          <p:cNvCxnSpPr/>
          <p:nvPr/>
        </p:nvCxnSpPr>
        <p:spPr>
          <a:xfrm rot="10800000">
            <a:off x="395536" y="919345"/>
            <a:ext cx="856895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28" y="63500"/>
            <a:ext cx="1514559" cy="76470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1133159" y="2693403"/>
            <a:ext cx="70937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Obrigado!</a:t>
            </a:r>
            <a:endParaRPr lang="pt-BR" sz="88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10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xecutivo">
  <a:themeElements>
    <a:clrScheme name="Executivo">
      <a:dk1>
        <a:srgbClr val="000000"/>
      </a:dk1>
      <a:lt1>
        <a:srgbClr val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576</Words>
  <Application>Microsoft Office PowerPoint</Application>
  <PresentationFormat>On-screen Show (4:3)</PresentationFormat>
  <Paragraphs>88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Courier New</vt:lpstr>
      <vt:lpstr>Palatino Linotype</vt:lpstr>
      <vt:lpstr>Century Gothic</vt:lpstr>
      <vt:lpstr>Executivo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Renam Eduardo Carvalho Pereira</dc:creator>
  <cp:lastModifiedBy>Adrian</cp:lastModifiedBy>
  <cp:revision>59</cp:revision>
  <dcterms:modified xsi:type="dcterms:W3CDTF">2017-10-04T01:27:15Z</dcterms:modified>
</cp:coreProperties>
</file>